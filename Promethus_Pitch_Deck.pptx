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5029200" cy="5029200"/>
          </a:xfrm>
          <a:prstGeom prst="ellipse">
            <a:avLst/>
          </a:prstGeom>
          <a:solidFill>
            <a:srgbClr val="FF6A3D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743200" cy="2743200"/>
          </a:xfrm>
          <a:prstGeom prst="ellipse">
            <a:avLst/>
          </a:prstGeom>
          <a:solidFill>
            <a:srgbClr val="3FE0D0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PROMPT ENGINEERING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PROMETHUS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production-ready prompts, skills, and AI workflows for any data platform — without requiring prompt engineering expertise.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ALL LIVING WITH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engineer, every day, reinvents the same wheel.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141A3D"/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" y="4014216"/>
            <a:ext cx="457200" cy="457200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9410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prompts differently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43708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standard across teams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379476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141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44568" y="4014216"/>
            <a:ext cx="457200" cy="457200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66360" y="39410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work already done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66360" y="43708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Reinvents prompts that already exist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141A3D"/>
          </a:solidFill>
          <a:ln/>
        </p:spPr>
      </p:sp>
      <p:sp>
        <p:nvSpPr>
          <p:cNvPr id="20" name="Shape 18"/>
          <p:cNvSpPr/>
          <p:nvPr/>
        </p:nvSpPr>
        <p:spPr>
          <a:xfrm>
            <a:off x="8339328" y="4014216"/>
            <a:ext cx="457200" cy="457200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21" name="Text 19"/>
          <p:cNvSpPr/>
          <p:nvPr/>
        </p:nvSpPr>
        <p:spPr>
          <a:xfrm>
            <a:off x="8339328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0" y="394106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insecure prompts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0" y="4370832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 injection &amp; leakage risk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21224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141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440680"/>
            <a:ext cx="457200" cy="457200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367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inconsistent output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71600" y="5797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depends on who wrote 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43400" y="5221224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141A3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44568" y="5440680"/>
            <a:ext cx="457200" cy="457200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66360" y="5367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tokens &amp; budget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166360" y="5797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cost before running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38160" y="5221224"/>
            <a:ext cx="3474720" cy="1170432"/>
          </a:xfrm>
          <a:prstGeom prst="roundRect">
            <a:avLst>
              <a:gd name="adj" fmla="val 6250"/>
            </a:avLst>
          </a:prstGeom>
          <a:solidFill>
            <a:srgbClr val="141A3D"/>
          </a:solidFill>
          <a:ln/>
        </p:spPr>
      </p:sp>
      <p:sp>
        <p:nvSpPr>
          <p:cNvPr id="35" name="Shape 33"/>
          <p:cNvSpPr/>
          <p:nvPr/>
        </p:nvSpPr>
        <p:spPr>
          <a:xfrm>
            <a:off x="8339328" y="5440680"/>
            <a:ext cx="457200" cy="457200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36" name="Text 34"/>
          <p:cNvSpPr/>
          <p:nvPr/>
        </p:nvSpPr>
        <p:spPr>
          <a:xfrm>
            <a:off x="8339328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961120" y="53675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Guesses the model to use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961120" y="5797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on the right AI for the job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18311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gave engineers version control. Promethus gives them prompt control.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 turns a plain-language business requirement into secure, optimized, reusable, governed AI prompts — across every platform your enterprise runs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F4F1E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96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MANUAL &amp; INCONSISTENT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2999232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manually writes every prompt from scratch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3602736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best-practice guardrails or security checks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2245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4206240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into token cost before running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8280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" y="480974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locked in individual inboxes &amp; chats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43153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B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5413248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right AI model is guesswork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240280"/>
            <a:ext cx="5212080" cy="3977640"/>
          </a:xfrm>
          <a:prstGeom prst="roundRect">
            <a:avLst>
              <a:gd name="adj" fmla="val 2069"/>
            </a:avLst>
          </a:prstGeom>
          <a:solidFill>
            <a:srgbClr val="0B0E23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496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PROMETHUS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10528" y="3017520"/>
            <a:ext cx="256032" cy="25603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10528" y="3017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2971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the goal in plain English — Promethus builds it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0528" y="3621024"/>
            <a:ext cx="256032" cy="25603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23" name="Text 21"/>
          <p:cNvSpPr/>
          <p:nvPr/>
        </p:nvSpPr>
        <p:spPr>
          <a:xfrm>
            <a:off x="6510528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357530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 auto-blocks injection, leakage, jailbreaks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10528" y="4224528"/>
            <a:ext cx="256032" cy="25603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224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417880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predicted before a single call executes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10528" y="4828032"/>
            <a:ext cx="256032" cy="25603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29" name="Text 27"/>
          <p:cNvSpPr/>
          <p:nvPr/>
        </p:nvSpPr>
        <p:spPr>
          <a:xfrm>
            <a:off x="6510528" y="4828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47823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versioned, rated, and reused org-wide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10528" y="5431536"/>
            <a:ext cx="256032" cy="25603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32" name="Text 30"/>
          <p:cNvSpPr/>
          <p:nvPr/>
        </p:nvSpPr>
        <p:spPr>
          <a:xfrm>
            <a:off x="6510528" y="54315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538581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model recommended automatically, every time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6217920"/>
            <a:ext cx="11091672" cy="91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18311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conversation in. A governed, production-ready AI asset out.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74520" y="1764792"/>
            <a:ext cx="0" cy="4078224"/>
          </a:xfrm>
          <a:prstGeom prst="line">
            <a:avLst/>
          </a:prstGeom>
          <a:noFill/>
          <a:ln w="28575">
            <a:solidFill>
              <a:srgbClr val="1C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1627632"/>
            <a:ext cx="347472" cy="347472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6" name="Text 4"/>
          <p:cNvSpPr/>
          <p:nvPr/>
        </p:nvSpPr>
        <p:spPr>
          <a:xfrm>
            <a:off x="1700784" y="1627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389888"/>
            <a:ext cx="9765792" cy="475488"/>
          </a:xfrm>
          <a:prstGeom prst="roundRect">
            <a:avLst>
              <a:gd name="adj" fmla="val 11538"/>
            </a:avLst>
          </a:prstGeom>
          <a:solidFill>
            <a:srgbClr val="141A3D"/>
          </a:solidFill>
          <a:ln/>
        </p:spPr>
      </p:sp>
      <p:sp>
        <p:nvSpPr>
          <p:cNvPr id="8" name="Text 6"/>
          <p:cNvSpPr/>
          <p:nvPr/>
        </p:nvSpPr>
        <p:spPr>
          <a:xfrm>
            <a:off x="2578608" y="1389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57800" y="1472184"/>
            <a:ext cx="0" cy="310896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389888"/>
            <a:ext cx="6473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states the goal in plain English — no prompt-craft required.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00784" y="2299716"/>
            <a:ext cx="347472" cy="347472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12" name="Text 10"/>
          <p:cNvSpPr/>
          <p:nvPr/>
        </p:nvSpPr>
        <p:spPr>
          <a:xfrm>
            <a:off x="1700784" y="22997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2061972"/>
            <a:ext cx="9765792" cy="475488"/>
          </a:xfrm>
          <a:prstGeom prst="roundRect">
            <a:avLst>
              <a:gd name="adj" fmla="val 11538"/>
            </a:avLst>
          </a:prstGeom>
          <a:solidFill>
            <a:srgbClr val="141A3D"/>
          </a:solidFill>
          <a:ln/>
        </p:spPr>
      </p:sp>
      <p:sp>
        <p:nvSpPr>
          <p:cNvPr id="14" name="Text 12"/>
          <p:cNvSpPr/>
          <p:nvPr/>
        </p:nvSpPr>
        <p:spPr>
          <a:xfrm>
            <a:off x="2578608" y="206197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Requirement Analyzer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2144268"/>
            <a:ext cx="0" cy="310896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061972"/>
            <a:ext cx="6473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intent, fills gaps, resolves ambiguity automatically.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700784" y="2971800"/>
            <a:ext cx="347472" cy="347472"/>
          </a:xfrm>
          <a:prstGeom prst="ellipse">
            <a:avLst/>
          </a:prstGeom>
          <a:solidFill>
            <a:srgbClr val="FF6A3D"/>
          </a:solidFill>
          <a:ln/>
        </p:spPr>
      </p:sp>
      <p:sp>
        <p:nvSpPr>
          <p:cNvPr id="18" name="Text 16"/>
          <p:cNvSpPr/>
          <p:nvPr/>
        </p:nvSpPr>
        <p:spPr>
          <a:xfrm>
            <a:off x="1700784" y="29718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2679192"/>
            <a:ext cx="9765792" cy="585216"/>
          </a:xfrm>
          <a:prstGeom prst="roundRect">
            <a:avLst>
              <a:gd name="adj" fmla="val 9375"/>
            </a:avLst>
          </a:prstGeom>
          <a:solidFill>
            <a:srgbClr val="1C2450"/>
          </a:solidFill>
          <a:ln w="12700">
            <a:solidFill>
              <a:srgbClr val="FF6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2679192"/>
            <a:ext cx="2606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57800" y="2761488"/>
            <a:ext cx="0" cy="420624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679192"/>
            <a:ext cx="64739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Snowflake · Power BI · SQL · Python · Spark · Unity Catalog · ETL · Governance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00784" y="3643884"/>
            <a:ext cx="347472" cy="347472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24" name="Text 22"/>
          <p:cNvSpPr/>
          <p:nvPr/>
        </p:nvSpPr>
        <p:spPr>
          <a:xfrm>
            <a:off x="1700784" y="36438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77440" y="3406140"/>
            <a:ext cx="9765792" cy="475488"/>
          </a:xfrm>
          <a:prstGeom prst="roundRect">
            <a:avLst>
              <a:gd name="adj" fmla="val 11538"/>
            </a:avLst>
          </a:prstGeom>
          <a:solidFill>
            <a:srgbClr val="141A3D"/>
          </a:solidFill>
          <a:ln/>
        </p:spPr>
      </p:sp>
      <p:sp>
        <p:nvSpPr>
          <p:cNvPr id="26" name="Text 24"/>
          <p:cNvSpPr/>
          <p:nvPr/>
        </p:nvSpPr>
        <p:spPr>
          <a:xfrm>
            <a:off x="2578608" y="340614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+ Security Layer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257800" y="3488436"/>
            <a:ext cx="0" cy="310896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406140"/>
            <a:ext cx="6473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Compresses, hardens, and screens for injection, leakage &amp; jailbreaks.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700784" y="4315968"/>
            <a:ext cx="347472" cy="347472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30" name="Text 28"/>
          <p:cNvSpPr/>
          <p:nvPr/>
        </p:nvSpPr>
        <p:spPr>
          <a:xfrm>
            <a:off x="1700784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77440" y="4078224"/>
            <a:ext cx="9765792" cy="475488"/>
          </a:xfrm>
          <a:prstGeom prst="roundRect">
            <a:avLst>
              <a:gd name="adj" fmla="val 11538"/>
            </a:avLst>
          </a:prstGeom>
          <a:solidFill>
            <a:srgbClr val="141A3D"/>
          </a:solidFill>
          <a:ln/>
        </p:spPr>
      </p:sp>
      <p:sp>
        <p:nvSpPr>
          <p:cNvPr id="32" name="Text 30"/>
          <p:cNvSpPr/>
          <p:nvPr/>
        </p:nvSpPr>
        <p:spPr>
          <a:xfrm>
            <a:off x="2578608" y="40782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Cost Predictor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257800" y="4160520"/>
            <a:ext cx="0" cy="310896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4078224"/>
            <a:ext cx="6473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expected tokens, spend, and latency before execution.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700784" y="4988052"/>
            <a:ext cx="347472" cy="347472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36" name="Text 34"/>
          <p:cNvSpPr/>
          <p:nvPr/>
        </p:nvSpPr>
        <p:spPr>
          <a:xfrm>
            <a:off x="1700784" y="49880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77440" y="4750308"/>
            <a:ext cx="9765792" cy="475488"/>
          </a:xfrm>
          <a:prstGeom prst="roundRect">
            <a:avLst>
              <a:gd name="adj" fmla="val 11538"/>
            </a:avLst>
          </a:prstGeom>
          <a:solidFill>
            <a:srgbClr val="141A3D"/>
          </a:solidFill>
          <a:ln/>
        </p:spPr>
      </p:sp>
      <p:sp>
        <p:nvSpPr>
          <p:cNvPr id="38" name="Text 36"/>
          <p:cNvSpPr/>
          <p:nvPr/>
        </p:nvSpPr>
        <p:spPr>
          <a:xfrm>
            <a:off x="2578608" y="475030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Skills.md Generator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57800" y="4832604"/>
            <a:ext cx="0" cy="310896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750308"/>
            <a:ext cx="6473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best practices into a reusable, versioned enterprise asset.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700784" y="5660136"/>
            <a:ext cx="347472" cy="347472"/>
          </a:xfrm>
          <a:prstGeom prst="ellipse">
            <a:avLst/>
          </a:prstGeom>
          <a:solidFill>
            <a:srgbClr val="1C2450"/>
          </a:solidFill>
          <a:ln/>
        </p:spPr>
      </p:sp>
      <p:sp>
        <p:nvSpPr>
          <p:cNvPr id="42" name="Text 40"/>
          <p:cNvSpPr/>
          <p:nvPr/>
        </p:nvSpPr>
        <p:spPr>
          <a:xfrm>
            <a:off x="1700784" y="5660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377440" y="5422392"/>
            <a:ext cx="9765792" cy="475488"/>
          </a:xfrm>
          <a:prstGeom prst="roundRect">
            <a:avLst>
              <a:gd name="adj" fmla="val 11538"/>
            </a:avLst>
          </a:prstGeom>
          <a:solidFill>
            <a:srgbClr val="141A3D"/>
          </a:solidFill>
          <a:ln/>
        </p:spPr>
      </p:sp>
      <p:sp>
        <p:nvSpPr>
          <p:cNvPr id="44" name="Text 42"/>
          <p:cNvSpPr/>
          <p:nvPr/>
        </p:nvSpPr>
        <p:spPr>
          <a:xfrm>
            <a:off x="2578608" y="5422392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/ Export / Save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257800" y="5504688"/>
            <a:ext cx="0" cy="310896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5422392"/>
            <a:ext cx="6473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it, ships it, or saves it to the enterprise prompt marketplace.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18311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85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OF ENABLEMENT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E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phased rollout — from one platform to the whole enterprise.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3384" cy="4160520"/>
          </a:xfrm>
          <a:prstGeom prst="roundRect">
            <a:avLst>
              <a:gd name="adj" fmla="val 2383"/>
            </a:avLst>
          </a:prstGeom>
          <a:solidFill>
            <a:srgbClr val="F7F6F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453384" cy="777240"/>
          </a:xfrm>
          <a:prstGeom prst="roundRect">
            <a:avLst>
              <a:gd name="adj" fmla="val 10588"/>
            </a:avLst>
          </a:prstGeom>
          <a:solidFill>
            <a:srgbClr val="141A3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453384" cy="365760"/>
          </a:xfrm>
          <a:prstGeom prst="rect">
            <a:avLst/>
          </a:prstGeom>
          <a:solidFill>
            <a:srgbClr val="141A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30552"/>
            <a:ext cx="2904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41248" y="2889504"/>
            <a:ext cx="109728" cy="109728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761488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41248" y="3456432"/>
            <a:ext cx="109728" cy="109728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328416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" y="4023360"/>
            <a:ext cx="109728" cy="109728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895344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Skills.md generation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4590288"/>
            <a:ext cx="109728" cy="109728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4462272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at scale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41248" y="5157216"/>
            <a:ext cx="109728" cy="109728"/>
          </a:xfrm>
          <a:prstGeom prst="ellipse">
            <a:avLst/>
          </a:prstGeom>
          <a:solidFill>
            <a:srgbClr val="141A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5029200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estimation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67784" y="1783080"/>
            <a:ext cx="3453384" cy="4160520"/>
          </a:xfrm>
          <a:prstGeom prst="roundRect">
            <a:avLst>
              <a:gd name="adj" fmla="val 2383"/>
            </a:avLst>
          </a:prstGeom>
          <a:solidFill>
            <a:srgbClr val="F7F6F3"/>
          </a:solidFill>
          <a:ln/>
        </p:spPr>
      </p:sp>
      <p:sp>
        <p:nvSpPr>
          <p:cNvPr id="20" name="Shape 18"/>
          <p:cNvSpPr/>
          <p:nvPr/>
        </p:nvSpPr>
        <p:spPr>
          <a:xfrm>
            <a:off x="4367784" y="1783080"/>
            <a:ext cx="3453384" cy="777240"/>
          </a:xfrm>
          <a:prstGeom prst="roundRect">
            <a:avLst>
              <a:gd name="adj" fmla="val 10588"/>
            </a:avLst>
          </a:prstGeom>
          <a:solidFill>
            <a:srgbClr val="E8501F"/>
          </a:solidFill>
          <a:ln/>
        </p:spPr>
      </p:sp>
      <p:sp>
        <p:nvSpPr>
          <p:cNvPr id="21" name="Shape 19"/>
          <p:cNvSpPr/>
          <p:nvPr/>
        </p:nvSpPr>
        <p:spPr>
          <a:xfrm>
            <a:off x="4367784" y="2194560"/>
            <a:ext cx="3453384" cy="365760"/>
          </a:xfrm>
          <a:prstGeom prst="rect">
            <a:avLst/>
          </a:prstGeom>
          <a:solidFill>
            <a:srgbClr val="E8501F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104" y="1901952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42104" y="2130552"/>
            <a:ext cx="2904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60392" y="2889504"/>
            <a:ext cx="109728" cy="109728"/>
          </a:xfrm>
          <a:prstGeom prst="ellipse">
            <a:avLst/>
          </a:prstGeom>
          <a:solidFill>
            <a:srgbClr val="E8501F"/>
          </a:solidFill>
          <a:ln/>
        </p:spPr>
      </p:sp>
      <p:sp>
        <p:nvSpPr>
          <p:cNvPr id="25" name="Text 23"/>
          <p:cNvSpPr/>
          <p:nvPr/>
        </p:nvSpPr>
        <p:spPr>
          <a:xfrm>
            <a:off x="4898136" y="2761488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&amp; Power BI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0392" y="3456432"/>
            <a:ext cx="109728" cy="109728"/>
          </a:xfrm>
          <a:prstGeom prst="ellipse">
            <a:avLst/>
          </a:prstGeom>
          <a:solidFill>
            <a:srgbClr val="E8501F"/>
          </a:solidFill>
          <a:ln/>
        </p:spPr>
      </p:sp>
      <p:sp>
        <p:nvSpPr>
          <p:cNvPr id="27" name="Text 25"/>
          <p:cNvSpPr/>
          <p:nvPr/>
        </p:nvSpPr>
        <p:spPr>
          <a:xfrm>
            <a:off x="4898136" y="3328416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&amp; SQL coverage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0392" y="4023360"/>
            <a:ext cx="109728" cy="109728"/>
          </a:xfrm>
          <a:prstGeom prst="ellipse">
            <a:avLst/>
          </a:prstGeom>
          <a:solidFill>
            <a:srgbClr val="E8501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8136" y="3895344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guardrails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0392" y="4590288"/>
            <a:ext cx="109728" cy="109728"/>
          </a:xfrm>
          <a:prstGeom prst="ellipse">
            <a:avLst/>
          </a:prstGeom>
          <a:solidFill>
            <a:srgbClr val="E8501F"/>
          </a:solidFill>
          <a:ln/>
        </p:spPr>
      </p:sp>
      <p:sp>
        <p:nvSpPr>
          <p:cNvPr id="31" name="Text 29"/>
          <p:cNvSpPr/>
          <p:nvPr/>
        </p:nvSpPr>
        <p:spPr>
          <a:xfrm>
            <a:off x="4898136" y="4462272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quality scoring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86928" y="1783080"/>
            <a:ext cx="3453384" cy="4160520"/>
          </a:xfrm>
          <a:prstGeom prst="roundRect">
            <a:avLst>
              <a:gd name="adj" fmla="val 2383"/>
            </a:avLst>
          </a:prstGeom>
          <a:solidFill>
            <a:srgbClr val="F7F6F3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6928" y="1783080"/>
            <a:ext cx="3453384" cy="777240"/>
          </a:xfrm>
          <a:prstGeom prst="roundRect">
            <a:avLst>
              <a:gd name="adj" fmla="val 10588"/>
            </a:avLst>
          </a:prstGeom>
          <a:solidFill>
            <a:srgbClr val="5B3FA6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6928" y="2194560"/>
            <a:ext cx="3453384" cy="365760"/>
          </a:xfrm>
          <a:prstGeom prst="rect">
            <a:avLst/>
          </a:prstGeom>
          <a:solidFill>
            <a:srgbClr val="5B3FA6"/>
          </a:solidFill>
          <a:ln/>
        </p:spPr>
      </p:sp>
      <p:sp>
        <p:nvSpPr>
          <p:cNvPr id="35" name="Text 33"/>
          <p:cNvSpPr/>
          <p:nvPr/>
        </p:nvSpPr>
        <p:spPr>
          <a:xfrm>
            <a:off x="8461248" y="1901952"/>
            <a:ext cx="2904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61248" y="2130552"/>
            <a:ext cx="2904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Scale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479536" y="2889504"/>
            <a:ext cx="109728" cy="1097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38" name="Text 36"/>
          <p:cNvSpPr/>
          <p:nvPr/>
        </p:nvSpPr>
        <p:spPr>
          <a:xfrm>
            <a:off x="8717280" y="2761488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marketplace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479536" y="3456432"/>
            <a:ext cx="109728" cy="1097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40" name="Text 38"/>
          <p:cNvSpPr/>
          <p:nvPr/>
        </p:nvSpPr>
        <p:spPr>
          <a:xfrm>
            <a:off x="8717280" y="3328416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orchestration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479536" y="4023360"/>
            <a:ext cx="109728" cy="1097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42" name="Text 40"/>
          <p:cNvSpPr/>
          <p:nvPr/>
        </p:nvSpPr>
        <p:spPr>
          <a:xfrm>
            <a:off x="8717280" y="3895344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integration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479536" y="4590288"/>
            <a:ext cx="109728" cy="1097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44" name="Text 42"/>
          <p:cNvSpPr/>
          <p:nvPr/>
        </p:nvSpPr>
        <p:spPr>
          <a:xfrm>
            <a:off x="8717280" y="4462272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cost optimization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479536" y="5157216"/>
            <a:ext cx="109728" cy="109728"/>
          </a:xfrm>
          <a:prstGeom prst="ellipse">
            <a:avLst/>
          </a:prstGeom>
          <a:solidFill>
            <a:srgbClr val="5B3FA6"/>
          </a:solidFill>
          <a:ln/>
        </p:spPr>
      </p:sp>
      <p:sp>
        <p:nvSpPr>
          <p:cNvPr id="46" name="Text 44"/>
          <p:cNvSpPr/>
          <p:nvPr/>
        </p:nvSpPr>
        <p:spPr>
          <a:xfrm>
            <a:off x="8717280" y="5029200"/>
            <a:ext cx="26304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analytics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18311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ORGANIZATIONS GAIN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impact, not just a better prompt box.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4343400"/>
          </a:xfrm>
          <a:prstGeom prst="roundRect">
            <a:avLst>
              <a:gd name="adj" fmla="val 2535"/>
            </a:avLst>
          </a:prstGeom>
          <a:solidFill>
            <a:srgbClr val="1C245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70–90%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duplicated prompt-engineering effort across teams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2514600" cy="0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turns every engineer's best prompt into everyone's starting point.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600200"/>
            <a:ext cx="3616452" cy="1298448"/>
          </a:xfrm>
          <a:prstGeom prst="roundRect">
            <a:avLst>
              <a:gd name="adj" fmla="val 4930"/>
            </a:avLst>
          </a:prstGeom>
          <a:solidFill>
            <a:srgbClr val="141A3D"/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1600200"/>
            <a:ext cx="54864" cy="1298448"/>
          </a:xfrm>
          <a:prstGeom prst="rect">
            <a:avLst/>
          </a:prstGeom>
          <a:solidFill>
            <a:srgbClr val="3FE0D0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746504"/>
            <a:ext cx="315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70832" y="2130552"/>
            <a:ext cx="31592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Better-quality, more consistent responses org-wide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3860" y="1600200"/>
            <a:ext cx="3616452" cy="1298448"/>
          </a:xfrm>
          <a:prstGeom prst="roundRect">
            <a:avLst>
              <a:gd name="adj" fmla="val 4930"/>
            </a:avLst>
          </a:prstGeom>
          <a:solidFill>
            <a:srgbClr val="141A3D"/>
          </a:solidFill>
          <a:ln/>
        </p:spPr>
      </p:sp>
      <p:sp>
        <p:nvSpPr>
          <p:cNvPr id="14" name="Shape 12"/>
          <p:cNvSpPr/>
          <p:nvPr/>
        </p:nvSpPr>
        <p:spPr>
          <a:xfrm>
            <a:off x="8023860" y="1600200"/>
            <a:ext cx="54864" cy="1298448"/>
          </a:xfrm>
          <a:prstGeom prst="rect">
            <a:avLst/>
          </a:prstGeom>
          <a:solidFill>
            <a:srgbClr val="3FE0D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9892" y="1746504"/>
            <a:ext cx="315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Prediction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9892" y="2130552"/>
            <a:ext cx="31592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predictable AI spend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3118104"/>
            <a:ext cx="3616452" cy="1298448"/>
          </a:xfrm>
          <a:prstGeom prst="roundRect">
            <a:avLst>
              <a:gd name="adj" fmla="val 4930"/>
            </a:avLst>
          </a:prstGeom>
          <a:solidFill>
            <a:srgbClr val="141A3D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0" y="3118104"/>
            <a:ext cx="54864" cy="1298448"/>
          </a:xfrm>
          <a:prstGeom prst="rect">
            <a:avLst/>
          </a:prstGeom>
          <a:solidFill>
            <a:srgbClr val="3FE0D0"/>
          </a:solidFill>
          <a:ln/>
        </p:spPr>
      </p:sp>
      <p:sp>
        <p:nvSpPr>
          <p:cNvPr id="19" name="Text 17"/>
          <p:cNvSpPr/>
          <p:nvPr/>
        </p:nvSpPr>
        <p:spPr>
          <a:xfrm>
            <a:off x="4370832" y="3264408"/>
            <a:ext cx="315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70832" y="3648456"/>
            <a:ext cx="31592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reduced AI security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23860" y="3118104"/>
            <a:ext cx="3616452" cy="1298448"/>
          </a:xfrm>
          <a:prstGeom prst="roundRect">
            <a:avLst>
              <a:gd name="adj" fmla="val 4930"/>
            </a:avLst>
          </a:prstGeom>
          <a:solidFill>
            <a:srgbClr val="141A3D"/>
          </a:solidFill>
          <a:ln/>
        </p:spPr>
      </p:sp>
      <p:sp>
        <p:nvSpPr>
          <p:cNvPr id="22" name="Shape 20"/>
          <p:cNvSpPr/>
          <p:nvPr/>
        </p:nvSpPr>
        <p:spPr>
          <a:xfrm>
            <a:off x="8023860" y="3118104"/>
            <a:ext cx="54864" cy="1298448"/>
          </a:xfrm>
          <a:prstGeom prst="rect">
            <a:avLst/>
          </a:prstGeom>
          <a:solidFill>
            <a:srgbClr val="3FE0D0"/>
          </a:solidFill>
          <a:ln/>
        </p:spPr>
      </p:sp>
      <p:sp>
        <p:nvSpPr>
          <p:cNvPr id="23" name="Text 21"/>
          <p:cNvSpPr/>
          <p:nvPr/>
        </p:nvSpPr>
        <p:spPr>
          <a:xfrm>
            <a:off x="8279892" y="3264408"/>
            <a:ext cx="315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79892" y="3648456"/>
            <a:ext cx="31592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is captured, not lost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0" y="4636008"/>
            <a:ext cx="3616452" cy="1298448"/>
          </a:xfrm>
          <a:prstGeom prst="roundRect">
            <a:avLst>
              <a:gd name="adj" fmla="val 4930"/>
            </a:avLst>
          </a:prstGeom>
          <a:solidFill>
            <a:srgbClr val="141A3D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0" y="4636008"/>
            <a:ext cx="54864" cy="1298448"/>
          </a:xfrm>
          <a:prstGeom prst="rect">
            <a:avLst/>
          </a:prstGeom>
          <a:solidFill>
            <a:srgbClr val="3FE0D0"/>
          </a:solidFill>
          <a:ln/>
        </p:spPr>
      </p:sp>
      <p:sp>
        <p:nvSpPr>
          <p:cNvPr id="27" name="Text 25"/>
          <p:cNvSpPr/>
          <p:nvPr/>
        </p:nvSpPr>
        <p:spPr>
          <a:xfrm>
            <a:off x="4370832" y="4782312"/>
            <a:ext cx="315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70832" y="5166360"/>
            <a:ext cx="31592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Standardized, auditable AI usage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23860" y="4636008"/>
            <a:ext cx="3616452" cy="1298448"/>
          </a:xfrm>
          <a:prstGeom prst="roundRect">
            <a:avLst>
              <a:gd name="adj" fmla="val 4930"/>
            </a:avLst>
          </a:prstGeom>
          <a:solidFill>
            <a:srgbClr val="141A3D"/>
          </a:solidFill>
          <a:ln/>
        </p:spPr>
      </p:sp>
      <p:sp>
        <p:nvSpPr>
          <p:cNvPr id="30" name="Shape 28"/>
          <p:cNvSpPr/>
          <p:nvPr/>
        </p:nvSpPr>
        <p:spPr>
          <a:xfrm>
            <a:off x="8023860" y="4636008"/>
            <a:ext cx="54864" cy="1298448"/>
          </a:xfrm>
          <a:prstGeom prst="rect">
            <a:avLst/>
          </a:prstGeom>
          <a:solidFill>
            <a:srgbClr val="3FE0D0"/>
          </a:solidFill>
          <a:ln/>
        </p:spPr>
      </p:sp>
      <p:sp>
        <p:nvSpPr>
          <p:cNvPr id="31" name="Text 29"/>
          <p:cNvSpPr/>
          <p:nvPr/>
        </p:nvSpPr>
        <p:spPr>
          <a:xfrm>
            <a:off x="8279892" y="4782312"/>
            <a:ext cx="31592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Builder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79892" y="5166360"/>
            <a:ext cx="315925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can now ship AI solutions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8311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FF6A3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3FE0D0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3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WHERE THIS IS HEADED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AI Engineering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1C2450"/>
          </a:solidFill>
          <a:ln w="9525">
            <a:solidFill>
              <a:srgbClr val="2B32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813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business requirements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481328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1C2450"/>
          </a:solidFill>
          <a:ln w="9525">
            <a:solidFill>
              <a:srgbClr val="2B32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14813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prompts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91856" y="1481328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1C2450"/>
          </a:solidFill>
          <a:ln w="9525">
            <a:solidFill>
              <a:srgbClr val="2B32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9016" y="148132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1C2450"/>
          </a:solidFill>
          <a:ln w="9525">
            <a:solidFill>
              <a:srgbClr val="2B32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8541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70248" y="2185416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1C2450"/>
          </a:solidFill>
          <a:ln w="9525">
            <a:solidFill>
              <a:srgbClr val="2B32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218541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outputs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2185416"/>
            <a:ext cx="3520440" cy="502920"/>
          </a:xfrm>
          <a:prstGeom prst="roundRect">
            <a:avLst>
              <a:gd name="adj" fmla="val 50909"/>
            </a:avLst>
          </a:prstGeom>
          <a:solidFill>
            <a:srgbClr val="1C2450"/>
          </a:solidFill>
          <a:ln w="9525">
            <a:solidFill>
              <a:srgbClr val="2B32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9016" y="218541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7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deployment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...learning continuously from every execution.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141A3D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337560"/>
            <a:ext cx="64008" cy="2148840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520440"/>
            <a:ext cx="10332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“Promethus is the Copilot for Prompt Engineering. </a:t>
            </a:r>
            <a:pPr indent="0" marL="0">
              <a:lnSpc>
                <a:spcPct val="125000"/>
              </a:lnSpc>
              <a:buNone/>
            </a:pPr>
            <a:r>
              <a:rPr lang="en-US" sz="1650" i="1" dirty="0">
                <a:solidFill>
                  <a:srgbClr val="C7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turns a business requirement into secure, optimized, reusable, governed AI prompts across Databricks, Snowflake, Power BI, and every platform that follows — letting anyone, from analyst to senior engineer, build production-ready AI without becoming a prompt expert.”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48640" y="57424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prompt library to an enterprise AI engineering standard.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56692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183112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910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9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PROMETHUS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2026-07-14T15:05:19Z</dcterms:created>
  <dcterms:modified xsi:type="dcterms:W3CDTF">2026-07-14T15:05:19Z</dcterms:modified>
</cp:coreProperties>
</file>